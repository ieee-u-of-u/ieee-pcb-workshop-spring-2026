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7"/>
  </p:notesMasterIdLst>
  <p:sldIdLst>
    <p:sldId id="388" r:id="rId2"/>
    <p:sldId id="466" r:id="rId3"/>
    <p:sldId id="470" r:id="rId4"/>
    <p:sldId id="496" r:id="rId5"/>
    <p:sldId id="471" r:id="rId6"/>
    <p:sldId id="497" r:id="rId7"/>
    <p:sldId id="498" r:id="rId8"/>
    <p:sldId id="486" r:id="rId9"/>
    <p:sldId id="492" r:id="rId10"/>
    <p:sldId id="493" r:id="rId11"/>
    <p:sldId id="494" r:id="rId12"/>
    <p:sldId id="481" r:id="rId13"/>
    <p:sldId id="495" r:id="rId14"/>
    <p:sldId id="462" r:id="rId15"/>
    <p:sldId id="459" r:id="rId1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-123" charset="0"/>
        <a:ea typeface="ＭＳ Ｐゴシック" pitchFamily="-123" charset="-128"/>
        <a:cs typeface="ＭＳ Ｐゴシック" pitchFamily="-123" charset="-128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-123" charset="0"/>
        <a:ea typeface="ＭＳ Ｐゴシック" pitchFamily="-123" charset="-128"/>
        <a:cs typeface="ＭＳ Ｐゴシック" pitchFamily="-123" charset="-128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-123" charset="0"/>
        <a:ea typeface="ＭＳ Ｐゴシック" pitchFamily="-123" charset="-128"/>
        <a:cs typeface="ＭＳ Ｐゴシック" pitchFamily="-123" charset="-128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-123" charset="0"/>
        <a:ea typeface="ＭＳ Ｐゴシック" pitchFamily="-123" charset="-128"/>
        <a:cs typeface="ＭＳ Ｐゴシック" pitchFamily="-123" charset="-128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-123" charset="0"/>
        <a:ea typeface="ＭＳ Ｐゴシック" pitchFamily="-123" charset="-128"/>
        <a:cs typeface="ＭＳ Ｐゴシック" pitchFamily="-123" charset="-128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pitchFamily="-123" charset="0"/>
        <a:ea typeface="ＭＳ Ｐゴシック" pitchFamily="-123" charset="-128"/>
        <a:cs typeface="ＭＳ Ｐゴシック" pitchFamily="-123" charset="-128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pitchFamily="-123" charset="0"/>
        <a:ea typeface="ＭＳ Ｐゴシック" pitchFamily="-123" charset="-128"/>
        <a:cs typeface="ＭＳ Ｐゴシック" pitchFamily="-123" charset="-128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pitchFamily="-123" charset="0"/>
        <a:ea typeface="ＭＳ Ｐゴシック" pitchFamily="-123" charset="-128"/>
        <a:cs typeface="ＭＳ Ｐゴシック" pitchFamily="-123" charset="-128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pitchFamily="-123" charset="0"/>
        <a:ea typeface="ＭＳ Ｐゴシック" pitchFamily="-123" charset="-128"/>
        <a:cs typeface="ＭＳ Ｐゴシック" pitchFamily="-123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900"/>
    <a:srgbClr val="00CC00"/>
    <a:srgbClr val="0000FF"/>
    <a:srgbClr val="FFFFFF"/>
    <a:srgbClr val="CC6600"/>
    <a:srgbClr val="B8B8B8"/>
    <a:srgbClr val="9D0000"/>
    <a:srgbClr val="95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6327" autoAdjust="0"/>
  </p:normalViewPr>
  <p:slideViewPr>
    <p:cSldViewPr snapToGrid="0">
      <p:cViewPr varScale="1">
        <p:scale>
          <a:sx n="139" d="100"/>
          <a:sy n="139" d="100"/>
        </p:scale>
        <p:origin x="168" y="120"/>
      </p:cViewPr>
      <p:guideLst>
        <p:guide orient="horz" pos="2160"/>
        <p:guide pos="2880"/>
      </p:guideLst>
    </p:cSldViewPr>
  </p:slideViewPr>
  <p:outlineViewPr>
    <p:cViewPr>
      <p:scale>
        <a:sx n="100" d="100"/>
        <a:sy n="10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fld id="{0EE26C0C-D63D-45AF-A471-A3D6BD5561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ＭＳ Ｐゴシック" pitchFamily="-123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B204B1A-73D0-4DB5-9D5A-907DF0676C32}" type="slidenum">
              <a:rPr lang="en-US" smtClean="0">
                <a:latin typeface="Arial" pitchFamily="-123" charset="0"/>
                <a:ea typeface="ＭＳ Ｐゴシック" pitchFamily="-123" charset="-128"/>
                <a:cs typeface="ＭＳ Ｐゴシック" pitchFamily="-123" charset="-128"/>
              </a:rPr>
              <a:pPr/>
              <a:t>1</a:t>
            </a:fld>
            <a:endParaRPr lang="en-US">
              <a:latin typeface="Arial" pitchFamily="-123" charset="0"/>
              <a:ea typeface="ＭＳ Ｐゴシック" pitchFamily="-123" charset="-128"/>
              <a:cs typeface="ＭＳ Ｐゴシック" pitchFamily="-123" charset="-128"/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-123" charset="0"/>
              <a:ea typeface="ＭＳ Ｐゴシック" pitchFamily="-123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31A53-83C9-F081-839F-3D720D1F4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Placeholder 2">
            <a:extLst>
              <a:ext uri="{FF2B5EF4-FFF2-40B4-BE49-F238E27FC236}">
                <a16:creationId xmlns:a16="http://schemas.microsoft.com/office/drawing/2014/main" id="{CD9BC3D4-DC5E-BAE0-7BB1-8FC9F9D357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Placeholder 3">
            <a:extLst>
              <a:ext uri="{FF2B5EF4-FFF2-40B4-BE49-F238E27FC236}">
                <a16:creationId xmlns:a16="http://schemas.microsoft.com/office/drawing/2014/main" id="{582D9068-8C1D-AA10-EAAB-F0BE0C7D67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-123" charset="0"/>
              <a:ea typeface="ＭＳ Ｐゴシック" pitchFamily="-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42586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86996-8618-45FF-646A-506CCF7D1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Placeholder 2">
            <a:extLst>
              <a:ext uri="{FF2B5EF4-FFF2-40B4-BE49-F238E27FC236}">
                <a16:creationId xmlns:a16="http://schemas.microsoft.com/office/drawing/2014/main" id="{B9B1C3D0-C899-D93D-A8FC-565E6E278F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Placeholder 3">
            <a:extLst>
              <a:ext uri="{FF2B5EF4-FFF2-40B4-BE49-F238E27FC236}">
                <a16:creationId xmlns:a16="http://schemas.microsoft.com/office/drawing/2014/main" id="{1D1873F3-75E9-82A7-45C0-C889061F5F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-123" charset="0"/>
              <a:ea typeface="ＭＳ Ｐゴシック" pitchFamily="-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433197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86996-8618-45FF-646A-506CCF7D1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Placeholder 2">
            <a:extLst>
              <a:ext uri="{FF2B5EF4-FFF2-40B4-BE49-F238E27FC236}">
                <a16:creationId xmlns:a16="http://schemas.microsoft.com/office/drawing/2014/main" id="{B9B1C3D0-C899-D93D-A8FC-565E6E278F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Placeholder 3">
            <a:extLst>
              <a:ext uri="{FF2B5EF4-FFF2-40B4-BE49-F238E27FC236}">
                <a16:creationId xmlns:a16="http://schemas.microsoft.com/office/drawing/2014/main" id="{1D1873F3-75E9-82A7-45C0-C889061F5F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-123" charset="0"/>
              <a:ea typeface="ＭＳ Ｐゴシック" pitchFamily="-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433197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B4AB3-0A43-DCDF-5410-3DF750EE4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Placeholder 2">
            <a:extLst>
              <a:ext uri="{FF2B5EF4-FFF2-40B4-BE49-F238E27FC236}">
                <a16:creationId xmlns:a16="http://schemas.microsoft.com/office/drawing/2014/main" id="{A375D60F-5E05-866E-7FF3-ECA762C3FE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Placeholder 3">
            <a:extLst>
              <a:ext uri="{FF2B5EF4-FFF2-40B4-BE49-F238E27FC236}">
                <a16:creationId xmlns:a16="http://schemas.microsoft.com/office/drawing/2014/main" id="{E93C4C39-0F17-CC0F-9E44-A2A5BB5AC8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-123" charset="0"/>
              <a:ea typeface="ＭＳ Ｐゴシック" pitchFamily="-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37844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A9528-980A-106A-A6C9-C0C5A7FA5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Placeholder 2">
            <a:extLst>
              <a:ext uri="{FF2B5EF4-FFF2-40B4-BE49-F238E27FC236}">
                <a16:creationId xmlns:a16="http://schemas.microsoft.com/office/drawing/2014/main" id="{076B09BE-E46C-BF0D-98C0-5CE67127A1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Placeholder 3">
            <a:extLst>
              <a:ext uri="{FF2B5EF4-FFF2-40B4-BE49-F238E27FC236}">
                <a16:creationId xmlns:a16="http://schemas.microsoft.com/office/drawing/2014/main" id="{1277B364-A67C-B6BE-DC59-C30EE3E9DF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-123" charset="0"/>
              <a:ea typeface="ＭＳ Ｐゴシック" pitchFamily="-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557274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01771-E0E9-04FA-BC53-134DD9922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Placeholder 2">
            <a:extLst>
              <a:ext uri="{FF2B5EF4-FFF2-40B4-BE49-F238E27FC236}">
                <a16:creationId xmlns:a16="http://schemas.microsoft.com/office/drawing/2014/main" id="{CDF603BB-C722-9B9B-D5F5-DCB047B716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Placeholder 3">
            <a:extLst>
              <a:ext uri="{FF2B5EF4-FFF2-40B4-BE49-F238E27FC236}">
                <a16:creationId xmlns:a16="http://schemas.microsoft.com/office/drawing/2014/main" id="{A680C8A1-F699-B4AC-8B4F-ED50D7B6BD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-123" charset="0"/>
              <a:ea typeface="ＭＳ Ｐゴシック" pitchFamily="-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654113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405D9-9A64-4745-2012-33ECA6444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Placeholder 2">
            <a:extLst>
              <a:ext uri="{FF2B5EF4-FFF2-40B4-BE49-F238E27FC236}">
                <a16:creationId xmlns:a16="http://schemas.microsoft.com/office/drawing/2014/main" id="{D8834228-B787-C52B-37C1-375A98C6CC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Placeholder 3">
            <a:extLst>
              <a:ext uri="{FF2B5EF4-FFF2-40B4-BE49-F238E27FC236}">
                <a16:creationId xmlns:a16="http://schemas.microsoft.com/office/drawing/2014/main" id="{FBB0318B-D1D1-371D-42A4-6E258DB58D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-123" charset="0"/>
              <a:ea typeface="ＭＳ Ｐゴシック" pitchFamily="-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160670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73C10-BA36-E368-FC46-7DDC5550D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Placeholder 2">
            <a:extLst>
              <a:ext uri="{FF2B5EF4-FFF2-40B4-BE49-F238E27FC236}">
                <a16:creationId xmlns:a16="http://schemas.microsoft.com/office/drawing/2014/main" id="{DBE4041E-9565-8E0B-5054-6697EB6806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Placeholder 3">
            <a:extLst>
              <a:ext uri="{FF2B5EF4-FFF2-40B4-BE49-F238E27FC236}">
                <a16:creationId xmlns:a16="http://schemas.microsoft.com/office/drawing/2014/main" id="{0FC52072-14C0-0E68-1339-F55A757DFB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-123" charset="0"/>
              <a:ea typeface="ＭＳ Ｐゴシック" pitchFamily="-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084542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9160E-BC6E-1030-B6DC-71A96DD4D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Placeholder 2">
            <a:extLst>
              <a:ext uri="{FF2B5EF4-FFF2-40B4-BE49-F238E27FC236}">
                <a16:creationId xmlns:a16="http://schemas.microsoft.com/office/drawing/2014/main" id="{3470E8DF-F61E-F1EC-593E-A2A42EE7A3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Placeholder 3">
            <a:extLst>
              <a:ext uri="{FF2B5EF4-FFF2-40B4-BE49-F238E27FC236}">
                <a16:creationId xmlns:a16="http://schemas.microsoft.com/office/drawing/2014/main" id="{4B13F64A-CD2D-FC43-0769-DCC5AF2E8F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-123" charset="0"/>
              <a:ea typeface="ＭＳ Ｐゴシック" pitchFamily="-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910829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427A7-1B67-667B-84E7-149FD477C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Placeholder 2">
            <a:extLst>
              <a:ext uri="{FF2B5EF4-FFF2-40B4-BE49-F238E27FC236}">
                <a16:creationId xmlns:a16="http://schemas.microsoft.com/office/drawing/2014/main" id="{5CF382B3-EED9-608F-4ECE-A93C8BD421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Placeholder 3">
            <a:extLst>
              <a:ext uri="{FF2B5EF4-FFF2-40B4-BE49-F238E27FC236}">
                <a16:creationId xmlns:a16="http://schemas.microsoft.com/office/drawing/2014/main" id="{3EE59098-002E-92E6-0236-C70444FCC6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-123" charset="0"/>
              <a:ea typeface="ＭＳ Ｐゴシック" pitchFamily="-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662114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C459B-7640-8D0B-D1DD-5FC328D3B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Placeholder 2">
            <a:extLst>
              <a:ext uri="{FF2B5EF4-FFF2-40B4-BE49-F238E27FC236}">
                <a16:creationId xmlns:a16="http://schemas.microsoft.com/office/drawing/2014/main" id="{DB672BA8-0D6E-39A0-7860-C3D4DFE92C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Placeholder 3">
            <a:extLst>
              <a:ext uri="{FF2B5EF4-FFF2-40B4-BE49-F238E27FC236}">
                <a16:creationId xmlns:a16="http://schemas.microsoft.com/office/drawing/2014/main" id="{DD2975E0-7F14-D134-3F95-EA0D11891A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-123" charset="0"/>
              <a:ea typeface="ＭＳ Ｐゴシック" pitchFamily="-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016847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17050-E03F-2BA1-E21C-3B5D83D95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Placeholder 2">
            <a:extLst>
              <a:ext uri="{FF2B5EF4-FFF2-40B4-BE49-F238E27FC236}">
                <a16:creationId xmlns:a16="http://schemas.microsoft.com/office/drawing/2014/main" id="{D647AA7F-7DF3-5B5C-7056-40F28DBCCB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Placeholder 3">
            <a:extLst>
              <a:ext uri="{FF2B5EF4-FFF2-40B4-BE49-F238E27FC236}">
                <a16:creationId xmlns:a16="http://schemas.microsoft.com/office/drawing/2014/main" id="{808061CE-896D-C3A4-78ED-093B8B9C70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-123" charset="0"/>
              <a:ea typeface="ＭＳ Ｐゴシック" pitchFamily="-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729874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D6ADA-B078-8165-C2DC-02D5DB4D0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Placeholder 2">
            <a:extLst>
              <a:ext uri="{FF2B5EF4-FFF2-40B4-BE49-F238E27FC236}">
                <a16:creationId xmlns:a16="http://schemas.microsoft.com/office/drawing/2014/main" id="{23009B17-E5BC-A687-528A-770D243E79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Placeholder 3">
            <a:extLst>
              <a:ext uri="{FF2B5EF4-FFF2-40B4-BE49-F238E27FC236}">
                <a16:creationId xmlns:a16="http://schemas.microsoft.com/office/drawing/2014/main" id="{018E914D-31E8-2190-8F2A-3BA5624164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-123" charset="0"/>
              <a:ea typeface="ＭＳ Ｐゴシック" pitchFamily="-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488478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9AB1B-1891-4738-FF17-C0F23E17F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Placeholder 2">
            <a:extLst>
              <a:ext uri="{FF2B5EF4-FFF2-40B4-BE49-F238E27FC236}">
                <a16:creationId xmlns:a16="http://schemas.microsoft.com/office/drawing/2014/main" id="{85205682-D74D-8576-78E3-25DBE8D91C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Placeholder 3">
            <a:extLst>
              <a:ext uri="{FF2B5EF4-FFF2-40B4-BE49-F238E27FC236}">
                <a16:creationId xmlns:a16="http://schemas.microsoft.com/office/drawing/2014/main" id="{D2C68183-DB7F-B2AB-0ED9-78C4985369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-123" charset="0"/>
              <a:ea typeface="ＭＳ Ｐゴシック" pitchFamily="-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18726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371600"/>
            <a:ext cx="41529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38700" y="1371600"/>
            <a:ext cx="41529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91350" y="304800"/>
            <a:ext cx="2152650" cy="6324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04800"/>
            <a:ext cx="6305550" cy="6324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304800"/>
            <a:ext cx="7696200" cy="603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371600"/>
            <a:ext cx="415290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38700" y="1371600"/>
            <a:ext cx="415290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533400" y="304800"/>
            <a:ext cx="8610600" cy="632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304800"/>
            <a:ext cx="7696200" cy="603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533400" y="1371600"/>
            <a:ext cx="8458200" cy="525780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304800"/>
            <a:ext cx="7696200" cy="603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371600"/>
            <a:ext cx="415290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838700" y="1371600"/>
            <a:ext cx="4152900" cy="2552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838700" y="4076700"/>
            <a:ext cx="4152900" cy="2552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304800"/>
            <a:ext cx="7696200" cy="603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371600"/>
            <a:ext cx="415290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838700" y="1371600"/>
            <a:ext cx="4152900" cy="525780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304800"/>
            <a:ext cx="7696200" cy="603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371600"/>
            <a:ext cx="415290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838700" y="1371600"/>
            <a:ext cx="4152900" cy="2552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838700" y="4076700"/>
            <a:ext cx="4152900" cy="2552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28600"/>
            <a:ext cx="69342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447800"/>
            <a:ext cx="7772400" cy="510540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5" r:id="rId2"/>
    <p:sldLayoutId id="2147483664" r:id="rId3"/>
    <p:sldLayoutId id="2147483663" r:id="rId4"/>
    <p:sldLayoutId id="2147483662" r:id="rId5"/>
    <p:sldLayoutId id="2147483661" r:id="rId6"/>
    <p:sldLayoutId id="2147483660" r:id="rId7"/>
    <p:sldLayoutId id="2147483659" r:id="rId8"/>
    <p:sldLayoutId id="2147483658" r:id="rId9"/>
    <p:sldLayoutId id="2147483657" r:id="rId10"/>
    <p:sldLayoutId id="2147483656" r:id="rId11"/>
    <p:sldLayoutId id="2147483655" r:id="rId12"/>
    <p:sldLayoutId id="2147483654" r:id="rId13"/>
    <p:sldLayoutId id="2147483653" r:id="rId14"/>
    <p:sldLayoutId id="2147483652" r:id="rId15"/>
    <p:sldLayoutId id="2147483651" r:id="rId16"/>
    <p:sldLayoutId id="2147483650" r:id="rId17"/>
    <p:sldLayoutId id="214748364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+mj-ea"/>
          <a:cs typeface="ＭＳ Ｐゴシック" pitchFamily="-123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ea typeface="ＭＳ Ｐゴシック" pitchFamily="1" charset="-128"/>
          <a:cs typeface="ＭＳ Ｐゴシック" pitchFamily="-123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ea typeface="ＭＳ Ｐゴシック" pitchFamily="1" charset="-128"/>
          <a:cs typeface="ＭＳ Ｐゴシック" pitchFamily="-123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ea typeface="ＭＳ Ｐゴシック" pitchFamily="1" charset="-128"/>
          <a:cs typeface="ＭＳ Ｐゴシック" pitchFamily="-123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ea typeface="ＭＳ Ｐゴシック" pitchFamily="1" charset="-128"/>
          <a:cs typeface="ＭＳ Ｐゴシック" pitchFamily="-123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ea typeface="ＭＳ Ｐゴシック" pitchFamily="1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ea typeface="ＭＳ Ｐゴシック" pitchFamily="1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ea typeface="ＭＳ Ｐゴシック" pitchFamily="1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ea typeface="ＭＳ Ｐゴシック" pitchFamily="1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ＭＳ Ｐゴシック" pitchFamily="-123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9F0305"/>
          </a:solidFill>
          <a:ln w="152400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dirty="0"/>
              <a:t>&lt;N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C049DE-558E-12CA-0C9C-869A7FA00B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3" r="833" b="17705"/>
          <a:stretch>
            <a:fillRect/>
          </a:stretch>
        </p:blipFill>
        <p:spPr>
          <a:xfrm>
            <a:off x="76200" y="2219324"/>
            <a:ext cx="8991600" cy="3286401"/>
          </a:xfrm>
          <a:prstGeom prst="rect">
            <a:avLst/>
          </a:prstGeom>
        </p:spPr>
      </p:pic>
      <p:sp>
        <p:nvSpPr>
          <p:cNvPr id="21506" name="Line 4"/>
          <p:cNvSpPr>
            <a:spLocks noChangeShapeType="1"/>
          </p:cNvSpPr>
          <p:nvPr/>
        </p:nvSpPr>
        <p:spPr bwMode="auto">
          <a:xfrm>
            <a:off x="76200" y="2219325"/>
            <a:ext cx="8991600" cy="0"/>
          </a:xfrm>
          <a:prstGeom prst="line">
            <a:avLst/>
          </a:prstGeom>
          <a:noFill/>
          <a:ln w="57150">
            <a:solidFill>
              <a:srgbClr val="C0C0C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7" name="Rectangle 7"/>
          <p:cNvSpPr>
            <a:spLocks noChangeArrowheads="1"/>
          </p:cNvSpPr>
          <p:nvPr/>
        </p:nvSpPr>
        <p:spPr bwMode="auto">
          <a:xfrm>
            <a:off x="0" y="762000"/>
            <a:ext cx="9144000" cy="1219200"/>
          </a:xfrm>
          <a:prstGeom prst="rect">
            <a:avLst/>
          </a:prstGeom>
          <a:noFill/>
          <a:ln w="152400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n-US"/>
          </a:p>
        </p:txBody>
      </p:sp>
      <p:sp>
        <p:nvSpPr>
          <p:cNvPr id="21508" name="Rectangle 8"/>
          <p:cNvSpPr>
            <a:spLocks noGrp="1" noChangeArrowheads="1"/>
          </p:cNvSpPr>
          <p:nvPr>
            <p:ph type="ctrTitle"/>
          </p:nvPr>
        </p:nvSpPr>
        <p:spPr bwMode="auto">
          <a:xfrm>
            <a:off x="685800" y="420689"/>
            <a:ext cx="7772400" cy="156051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b="1" dirty="0">
                <a:solidFill>
                  <a:srgbClr val="FFFFFF"/>
                </a:solidFill>
              </a:rPr>
              <a:t>IEEE PCB Design Workshop:</a:t>
            </a:r>
            <a:br>
              <a:rPr lang="en-US" b="1" dirty="0">
                <a:solidFill>
                  <a:srgbClr val="FFFFFF"/>
                </a:solidFill>
              </a:rPr>
            </a:br>
            <a:r>
              <a:rPr lang="en-US" b="1" dirty="0">
                <a:solidFill>
                  <a:srgbClr val="FFFFFF"/>
                </a:solidFill>
              </a:rPr>
              <a:t>(Week 02)</a:t>
            </a:r>
            <a:br>
              <a:rPr lang="en-US" b="1">
                <a:solidFill>
                  <a:srgbClr val="FFFFFF"/>
                </a:solidFill>
              </a:rPr>
            </a:br>
            <a:r>
              <a:rPr lang="en-US">
                <a:solidFill>
                  <a:srgbClr val="FFFFFF"/>
                </a:solidFill>
              </a:rPr>
              <a:t>Datasheets and Components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1510" name="Line 5"/>
          <p:cNvSpPr>
            <a:spLocks noChangeShapeType="1"/>
          </p:cNvSpPr>
          <p:nvPr/>
        </p:nvSpPr>
        <p:spPr bwMode="auto">
          <a:xfrm>
            <a:off x="76200" y="5530850"/>
            <a:ext cx="8991600" cy="0"/>
          </a:xfrm>
          <a:prstGeom prst="line">
            <a:avLst/>
          </a:prstGeom>
          <a:noFill/>
          <a:ln w="57150">
            <a:solidFill>
              <a:srgbClr val="C0C0C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1511" name="Picture 6" descr="ENG_SEAL_RedGray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58000" y="4921250"/>
            <a:ext cx="1196975" cy="119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12" name="Rectangle 8"/>
          <p:cNvSpPr>
            <a:spLocks noChangeArrowheads="1"/>
          </p:cNvSpPr>
          <p:nvPr/>
        </p:nvSpPr>
        <p:spPr bwMode="auto">
          <a:xfrm>
            <a:off x="10144125" y="6567488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FFDA38-08DF-E87E-A1A7-9AB97BE10DEA}"/>
              </a:ext>
            </a:extLst>
          </p:cNvPr>
          <p:cNvSpPr txBox="1"/>
          <p:nvPr/>
        </p:nvSpPr>
        <p:spPr>
          <a:xfrm>
            <a:off x="136656" y="5656147"/>
            <a:ext cx="7412224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Hosted By: Adrian Sucahyo and IEEE at the University of Utah</a:t>
            </a:r>
          </a:p>
          <a:p>
            <a:endParaRPr lang="en-US" sz="1100" dirty="0">
              <a:solidFill>
                <a:schemeClr val="bg1"/>
              </a:solidFill>
            </a:endParaRPr>
          </a:p>
          <a:p>
            <a:endParaRPr lang="en-US" sz="1100" dirty="0">
              <a:solidFill>
                <a:schemeClr val="bg1"/>
              </a:solidFill>
            </a:endParaRPr>
          </a:p>
          <a:p>
            <a:endParaRPr lang="en-US" sz="11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Adapted From: IEEE x FSAE Workshop SP25 with Nick Howard and Adrian Sucahyo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CB48A-FBDB-56B8-DF2C-475489B59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3" name="Picture 7" descr="ECE_Logo_RedGray_H_45%">
            <a:extLst>
              <a:ext uri="{FF2B5EF4-FFF2-40B4-BE49-F238E27FC236}">
                <a16:creationId xmlns:a16="http://schemas.microsoft.com/office/drawing/2014/main" id="{085C481F-C6CD-A5C7-2408-46A361523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96125" y="6410325"/>
            <a:ext cx="1792288" cy="269875"/>
          </a:xfrm>
          <a:prstGeom prst="rect">
            <a:avLst/>
          </a:prstGeom>
          <a:noFill/>
        </p:spPr>
      </p:pic>
      <p:sp>
        <p:nvSpPr>
          <p:cNvPr id="50179" name="Rectangle 2">
            <a:extLst>
              <a:ext uri="{FF2B5EF4-FFF2-40B4-BE49-F238E27FC236}">
                <a16:creationId xmlns:a16="http://schemas.microsoft.com/office/drawing/2014/main" id="{95F0D5BF-94BE-29EA-DB49-CA86679F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152400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n-US"/>
          </a:p>
        </p:txBody>
      </p:sp>
      <p:sp>
        <p:nvSpPr>
          <p:cNvPr id="50182" name="Rectangle 3">
            <a:extLst>
              <a:ext uri="{FF2B5EF4-FFF2-40B4-BE49-F238E27FC236}">
                <a16:creationId xmlns:a16="http://schemas.microsoft.com/office/drawing/2014/main" id="{2F963C4F-2B4C-7F5B-3AD8-3D721D592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274" y="1458913"/>
            <a:ext cx="8220075" cy="4951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spcBef>
                <a:spcPct val="20000"/>
              </a:spcBef>
            </a:pPr>
            <a:r>
              <a:rPr lang="en-US" b="1" dirty="0"/>
              <a:t>Schedule:</a:t>
            </a: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Feb. 17 – Introduction to Schematics</a:t>
            </a: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highlight>
                  <a:srgbClr val="FFFF00"/>
                </a:highlight>
              </a:rPr>
              <a:t>Feb. 10 – Datasheets and Components</a:t>
            </a: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Mar. 3 – Introduction to PCB Layout</a:t>
            </a: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** SPRING BREAK **</a:t>
            </a: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Mar. 17 – Layout Continued</a:t>
            </a: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Mar. 24 – Soldering Week 1</a:t>
            </a: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Mar. 31 – Soldering Week 2</a:t>
            </a: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Apr. 3 – Soldering Week 3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B05305DF-DE42-E245-8063-8E7619E47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6201" y="473075"/>
            <a:ext cx="9296401" cy="685800"/>
          </a:xfrm>
          <a:prstGeom prst="rect">
            <a:avLst/>
          </a:prstGeom>
          <a:solidFill>
            <a:srgbClr val="9F030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latin typeface="Arial" charset="0"/>
              <a:ea typeface="ＭＳ Ｐゴシック" pitchFamily="1" charset="-128"/>
              <a:cs typeface="+mn-cs"/>
            </a:endParaRPr>
          </a:p>
        </p:txBody>
      </p:sp>
      <p:sp>
        <p:nvSpPr>
          <p:cNvPr id="50181" name="Rectangle 2">
            <a:extLst>
              <a:ext uri="{FF2B5EF4-FFF2-40B4-BE49-F238E27FC236}">
                <a16:creationId xmlns:a16="http://schemas.microsoft.com/office/drawing/2014/main" id="{E4BD160B-2FC5-E2CD-C3FF-B304FCFFFB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3" y="514350"/>
            <a:ext cx="8288337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Workshop Outline</a:t>
            </a:r>
          </a:p>
        </p:txBody>
      </p:sp>
    </p:spTree>
    <p:extLst>
      <p:ext uri="{BB962C8B-B14F-4D97-AF65-F5344CB8AC3E}">
        <p14:creationId xmlns:p14="http://schemas.microsoft.com/office/powerpoint/2010/main" val="22854546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DBFAA-7F67-B125-2947-C902E4C78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3" name="Picture 7" descr="ECE_Logo_RedGray_H_45%">
            <a:extLst>
              <a:ext uri="{FF2B5EF4-FFF2-40B4-BE49-F238E27FC236}">
                <a16:creationId xmlns:a16="http://schemas.microsoft.com/office/drawing/2014/main" id="{6EFBEACB-7013-BFCB-1A51-7DFDF7B1C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96125" y="6410325"/>
            <a:ext cx="1792288" cy="269875"/>
          </a:xfrm>
          <a:prstGeom prst="rect">
            <a:avLst/>
          </a:prstGeom>
          <a:noFill/>
        </p:spPr>
      </p:pic>
      <p:sp>
        <p:nvSpPr>
          <p:cNvPr id="50179" name="Rectangle 2">
            <a:extLst>
              <a:ext uri="{FF2B5EF4-FFF2-40B4-BE49-F238E27FC236}">
                <a16:creationId xmlns:a16="http://schemas.microsoft.com/office/drawing/2014/main" id="{8F251094-9F70-E0CC-F162-7B0BD139C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152400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n-US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35A4AEBF-3FF6-2706-E47B-27EC80F12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6201" y="473075"/>
            <a:ext cx="9296401" cy="685800"/>
          </a:xfrm>
          <a:prstGeom prst="rect">
            <a:avLst/>
          </a:prstGeom>
          <a:solidFill>
            <a:srgbClr val="9F030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latin typeface="Arial" charset="0"/>
              <a:ea typeface="ＭＳ Ｐゴシック" pitchFamily="1" charset="-128"/>
              <a:cs typeface="+mn-cs"/>
            </a:endParaRPr>
          </a:p>
        </p:txBody>
      </p:sp>
      <p:sp>
        <p:nvSpPr>
          <p:cNvPr id="50181" name="Rectangle 2">
            <a:extLst>
              <a:ext uri="{FF2B5EF4-FFF2-40B4-BE49-F238E27FC236}">
                <a16:creationId xmlns:a16="http://schemas.microsoft.com/office/drawing/2014/main" id="{67FF711F-D681-A91B-8947-D7135D50A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3" y="514350"/>
            <a:ext cx="8288337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Announcements</a:t>
            </a:r>
          </a:p>
        </p:txBody>
      </p:sp>
      <p:sp>
        <p:nvSpPr>
          <p:cNvPr id="50182" name="Rectangle 3">
            <a:extLst>
              <a:ext uri="{FF2B5EF4-FFF2-40B4-BE49-F238E27FC236}">
                <a16:creationId xmlns:a16="http://schemas.microsoft.com/office/drawing/2014/main" id="{5DD5C126-F29F-DB11-4A7C-9F75CF68F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274" y="1458913"/>
            <a:ext cx="8220076" cy="4951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dirty="0"/>
              <a:t>Alternative Projects</a:t>
            </a:r>
          </a:p>
          <a:p>
            <a:pPr marL="800100" lvl="1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We will be able to get alternative project boards manufactured if submitted by the deadline.</a:t>
            </a:r>
          </a:p>
          <a:p>
            <a:pPr marL="800100" lvl="1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Limited to the 10 cm x 10 cm dimensions outlined by JLCPCB.</a:t>
            </a:r>
          </a:p>
          <a:p>
            <a:pPr marL="800100" lvl="1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Talk or email me if you have any questions!</a:t>
            </a:r>
          </a:p>
        </p:txBody>
      </p:sp>
    </p:spTree>
    <p:extLst>
      <p:ext uri="{BB962C8B-B14F-4D97-AF65-F5344CB8AC3E}">
        <p14:creationId xmlns:p14="http://schemas.microsoft.com/office/powerpoint/2010/main" val="41342685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DBFAA-7F67-B125-2947-C902E4C78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3" name="Picture 7" descr="ECE_Logo_RedGray_H_45%">
            <a:extLst>
              <a:ext uri="{FF2B5EF4-FFF2-40B4-BE49-F238E27FC236}">
                <a16:creationId xmlns:a16="http://schemas.microsoft.com/office/drawing/2014/main" id="{6EFBEACB-7013-BFCB-1A51-7DFDF7B1C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96125" y="6410325"/>
            <a:ext cx="1792288" cy="269875"/>
          </a:xfrm>
          <a:prstGeom prst="rect">
            <a:avLst/>
          </a:prstGeom>
          <a:noFill/>
        </p:spPr>
      </p:pic>
      <p:sp>
        <p:nvSpPr>
          <p:cNvPr id="50179" name="Rectangle 2">
            <a:extLst>
              <a:ext uri="{FF2B5EF4-FFF2-40B4-BE49-F238E27FC236}">
                <a16:creationId xmlns:a16="http://schemas.microsoft.com/office/drawing/2014/main" id="{8F251094-9F70-E0CC-F162-7B0BD139C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152400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n-US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35A4AEBF-3FF6-2706-E47B-27EC80F12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6201" y="473075"/>
            <a:ext cx="9296401" cy="685800"/>
          </a:xfrm>
          <a:prstGeom prst="rect">
            <a:avLst/>
          </a:prstGeom>
          <a:solidFill>
            <a:srgbClr val="9F030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latin typeface="Arial" charset="0"/>
              <a:ea typeface="ＭＳ Ｐゴシック" pitchFamily="1" charset="-128"/>
              <a:cs typeface="+mn-cs"/>
            </a:endParaRPr>
          </a:p>
        </p:txBody>
      </p:sp>
      <p:sp>
        <p:nvSpPr>
          <p:cNvPr id="50181" name="Rectangle 2">
            <a:extLst>
              <a:ext uri="{FF2B5EF4-FFF2-40B4-BE49-F238E27FC236}">
                <a16:creationId xmlns:a16="http://schemas.microsoft.com/office/drawing/2014/main" id="{67FF711F-D681-A91B-8947-D7135D50A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3" y="514350"/>
            <a:ext cx="8288337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Want more experience?</a:t>
            </a:r>
          </a:p>
        </p:txBody>
      </p:sp>
      <p:sp>
        <p:nvSpPr>
          <p:cNvPr id="50182" name="Rectangle 3">
            <a:extLst>
              <a:ext uri="{FF2B5EF4-FFF2-40B4-BE49-F238E27FC236}">
                <a16:creationId xmlns:a16="http://schemas.microsoft.com/office/drawing/2014/main" id="{5DD5C126-F29F-DB11-4A7C-9F75CF68F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274" y="1458913"/>
            <a:ext cx="4800655" cy="4951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dirty="0"/>
              <a:t>Consider joining the FSAE tractive team!</a:t>
            </a:r>
          </a:p>
          <a:p>
            <a:pPr marL="800100" lvl="1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The Tractive Team is currently looking for students to assist with designing and assembling the electrical system for an electric formula-style race car!</a:t>
            </a:r>
          </a:p>
          <a:p>
            <a:pPr marL="800100" lvl="1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No experience required!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B3F050-681A-EE90-0A96-44C1A84ED3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5828" y="1644650"/>
            <a:ext cx="2940594" cy="24433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2AB716-9FFE-0ED3-D363-80D113F5F4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4814" y="4274019"/>
            <a:ext cx="6411796" cy="2069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3342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FA2B3-954E-8071-5F09-872D8E512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3" name="Picture 7" descr="ECE_Logo_RedGray_H_45%">
            <a:extLst>
              <a:ext uri="{FF2B5EF4-FFF2-40B4-BE49-F238E27FC236}">
                <a16:creationId xmlns:a16="http://schemas.microsoft.com/office/drawing/2014/main" id="{628345D7-CE34-ABB2-0348-3188AA3FF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96125" y="6410325"/>
            <a:ext cx="1792288" cy="269875"/>
          </a:xfrm>
          <a:prstGeom prst="rect">
            <a:avLst/>
          </a:prstGeom>
          <a:noFill/>
        </p:spPr>
      </p:pic>
      <p:sp>
        <p:nvSpPr>
          <p:cNvPr id="50179" name="Rectangle 2">
            <a:extLst>
              <a:ext uri="{FF2B5EF4-FFF2-40B4-BE49-F238E27FC236}">
                <a16:creationId xmlns:a16="http://schemas.microsoft.com/office/drawing/2014/main" id="{A3F07F1D-F1AC-2401-4085-C191661C3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152400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n-US"/>
          </a:p>
        </p:txBody>
      </p:sp>
      <p:sp>
        <p:nvSpPr>
          <p:cNvPr id="50182" name="Rectangle 3">
            <a:extLst>
              <a:ext uri="{FF2B5EF4-FFF2-40B4-BE49-F238E27FC236}">
                <a16:creationId xmlns:a16="http://schemas.microsoft.com/office/drawing/2014/main" id="{976CC8F3-3449-8645-2087-4B7BA6C12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274" y="1458913"/>
            <a:ext cx="4800655" cy="4951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dirty="0"/>
              <a:t>If you haven’t already, please join the IEEE Discord server for additional information and updates regarding this workshop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68B583-095A-01B5-1D9B-1CCC34915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0242" y="1458913"/>
            <a:ext cx="3188441" cy="27898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4CC7FA-2BE3-DD36-6010-0DD4752BDA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7416" y="4464145"/>
            <a:ext cx="3524934" cy="1356720"/>
          </a:xfrm>
          <a:prstGeom prst="rect">
            <a:avLst/>
          </a:prstGeom>
        </p:spPr>
      </p:pic>
      <p:sp>
        <p:nvSpPr>
          <p:cNvPr id="2" name="Rectangle 8">
            <a:extLst>
              <a:ext uri="{FF2B5EF4-FFF2-40B4-BE49-F238E27FC236}">
                <a16:creationId xmlns:a16="http://schemas.microsoft.com/office/drawing/2014/main" id="{76F6B321-94A5-DCA9-F00D-F9994204F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6201" y="473075"/>
            <a:ext cx="9296401" cy="685800"/>
          </a:xfrm>
          <a:prstGeom prst="rect">
            <a:avLst/>
          </a:prstGeom>
          <a:solidFill>
            <a:srgbClr val="9F030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latin typeface="Arial" charset="0"/>
              <a:ea typeface="ＭＳ Ｐゴシック" pitchFamily="1" charset="-128"/>
              <a:cs typeface="+mn-cs"/>
            </a:endParaRPr>
          </a:p>
        </p:txBody>
      </p:sp>
      <p:sp>
        <p:nvSpPr>
          <p:cNvPr id="50181" name="Rectangle 2">
            <a:extLst>
              <a:ext uri="{FF2B5EF4-FFF2-40B4-BE49-F238E27FC236}">
                <a16:creationId xmlns:a16="http://schemas.microsoft.com/office/drawing/2014/main" id="{CB0CBCFB-FBF4-544B-9B93-905E0B828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3" y="514350"/>
            <a:ext cx="8288337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Join the IEEE Discord</a:t>
            </a:r>
          </a:p>
        </p:txBody>
      </p:sp>
    </p:spTree>
    <p:extLst>
      <p:ext uri="{BB962C8B-B14F-4D97-AF65-F5344CB8AC3E}">
        <p14:creationId xmlns:p14="http://schemas.microsoft.com/office/powerpoint/2010/main" val="16288442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A2D8E-63CC-36DA-901F-FDAF5D623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3" name="Picture 7" descr="ECE_Logo_RedGray_H_45%">
            <a:extLst>
              <a:ext uri="{FF2B5EF4-FFF2-40B4-BE49-F238E27FC236}">
                <a16:creationId xmlns:a16="http://schemas.microsoft.com/office/drawing/2014/main" id="{7578C894-824A-1E94-828B-73EC6626B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96125" y="6410325"/>
            <a:ext cx="1792288" cy="269875"/>
          </a:xfrm>
          <a:prstGeom prst="rect">
            <a:avLst/>
          </a:prstGeom>
          <a:noFill/>
        </p:spPr>
      </p:pic>
      <p:sp>
        <p:nvSpPr>
          <p:cNvPr id="50179" name="Rectangle 2">
            <a:extLst>
              <a:ext uri="{FF2B5EF4-FFF2-40B4-BE49-F238E27FC236}">
                <a16:creationId xmlns:a16="http://schemas.microsoft.com/office/drawing/2014/main" id="{CAF80379-1EDC-B531-6421-F31F33CFF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152400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n-US"/>
          </a:p>
        </p:txBody>
      </p:sp>
      <p:sp>
        <p:nvSpPr>
          <p:cNvPr id="50182" name="Rectangle 3">
            <a:extLst>
              <a:ext uri="{FF2B5EF4-FFF2-40B4-BE49-F238E27FC236}">
                <a16:creationId xmlns:a16="http://schemas.microsoft.com/office/drawing/2014/main" id="{A2F87142-94E3-B25D-5966-872B7AD17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274" y="1458913"/>
            <a:ext cx="4800655" cy="4951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dirty="0"/>
              <a:t>Component selection poses a challenge during the design stage.</a:t>
            </a: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dirty="0"/>
              <a:t>Selection should be driven by design constraints.</a:t>
            </a:r>
          </a:p>
          <a:p>
            <a:pPr marL="800100" lvl="1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dirty="0"/>
              <a:t>Cost</a:t>
            </a:r>
          </a:p>
          <a:p>
            <a:pPr marL="800100" lvl="1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dirty="0"/>
              <a:t>Size</a:t>
            </a:r>
          </a:p>
          <a:p>
            <a:pPr marL="800100" lvl="1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dirty="0"/>
              <a:t>Performance</a:t>
            </a:r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A0BB6020-793C-E5BF-FDB5-570540743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6201" y="473075"/>
            <a:ext cx="9296401" cy="685800"/>
          </a:xfrm>
          <a:prstGeom prst="rect">
            <a:avLst/>
          </a:prstGeom>
          <a:solidFill>
            <a:srgbClr val="9F030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latin typeface="Arial" charset="0"/>
              <a:ea typeface="ＭＳ Ｐゴシック" pitchFamily="1" charset="-128"/>
              <a:cs typeface="+mn-cs"/>
            </a:endParaRPr>
          </a:p>
        </p:txBody>
      </p:sp>
      <p:sp>
        <p:nvSpPr>
          <p:cNvPr id="50181" name="Rectangle 2">
            <a:extLst>
              <a:ext uri="{FF2B5EF4-FFF2-40B4-BE49-F238E27FC236}">
                <a16:creationId xmlns:a16="http://schemas.microsoft.com/office/drawing/2014/main" id="{E65174CD-0A55-0D8E-2834-5CFCCBCAF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3" y="514350"/>
            <a:ext cx="8288337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Component Selection</a:t>
            </a:r>
          </a:p>
        </p:txBody>
      </p:sp>
    </p:spTree>
    <p:extLst>
      <p:ext uri="{BB962C8B-B14F-4D97-AF65-F5344CB8AC3E}">
        <p14:creationId xmlns:p14="http://schemas.microsoft.com/office/powerpoint/2010/main" val="38704410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4F927-25F3-5369-E129-BDA1A9AC3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3" name="Picture 7" descr="ECE_Logo_RedGray_H_45%">
            <a:extLst>
              <a:ext uri="{FF2B5EF4-FFF2-40B4-BE49-F238E27FC236}">
                <a16:creationId xmlns:a16="http://schemas.microsoft.com/office/drawing/2014/main" id="{8D033366-3C60-39C3-968E-17CCA5109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96125" y="6410325"/>
            <a:ext cx="1792288" cy="269875"/>
          </a:xfrm>
          <a:prstGeom prst="rect">
            <a:avLst/>
          </a:prstGeom>
          <a:noFill/>
        </p:spPr>
      </p:pic>
      <p:sp>
        <p:nvSpPr>
          <p:cNvPr id="50179" name="Rectangle 2">
            <a:extLst>
              <a:ext uri="{FF2B5EF4-FFF2-40B4-BE49-F238E27FC236}">
                <a16:creationId xmlns:a16="http://schemas.microsoft.com/office/drawing/2014/main" id="{0CB4DCCB-91C4-BA86-441F-501BB0608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152400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n-US"/>
          </a:p>
        </p:txBody>
      </p:sp>
      <p:sp>
        <p:nvSpPr>
          <p:cNvPr id="50182" name="Rectangle 3">
            <a:extLst>
              <a:ext uri="{FF2B5EF4-FFF2-40B4-BE49-F238E27FC236}">
                <a16:creationId xmlns:a16="http://schemas.microsoft.com/office/drawing/2014/main" id="{AA2F0690-3766-C929-ACE0-C2CCA6B4A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274" y="1458913"/>
            <a:ext cx="4800655" cy="4951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dirty="0"/>
              <a:t>Manufactures and Distributors may provide component search functions</a:t>
            </a: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dirty="0"/>
              <a:t>Manufacture Search:</a:t>
            </a:r>
          </a:p>
          <a:p>
            <a:pPr marL="800100" lvl="1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Specific Functionality, Performance</a:t>
            </a:r>
          </a:p>
          <a:p>
            <a:pPr marL="800100" lvl="1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More details on specifics</a:t>
            </a:r>
          </a:p>
          <a:p>
            <a:pPr marL="800100" lvl="1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Narrower Scope</a:t>
            </a: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dirty="0"/>
              <a:t>Distributor Search:</a:t>
            </a:r>
          </a:p>
          <a:p>
            <a:pPr marL="800100" lvl="1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Wider Component Reach</a:t>
            </a:r>
          </a:p>
          <a:p>
            <a:pPr marL="800100" lvl="1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Multiple Manufacturers</a:t>
            </a:r>
          </a:p>
          <a:p>
            <a:pPr marL="800100" lvl="1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Broader Search Parameter</a:t>
            </a:r>
          </a:p>
          <a:p>
            <a:pPr lvl="1">
              <a:spcBef>
                <a:spcPct val="20000"/>
              </a:spcBef>
            </a:pPr>
            <a:endParaRPr lang="en-US" sz="2000" dirty="0"/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153F7418-3E0B-D8FB-A041-8621266504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6201" y="473075"/>
            <a:ext cx="9296401" cy="685800"/>
          </a:xfrm>
          <a:prstGeom prst="rect">
            <a:avLst/>
          </a:prstGeom>
          <a:solidFill>
            <a:srgbClr val="9F030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latin typeface="Arial" charset="0"/>
              <a:ea typeface="ＭＳ Ｐゴシック" pitchFamily="1" charset="-128"/>
              <a:cs typeface="+mn-cs"/>
            </a:endParaRPr>
          </a:p>
        </p:txBody>
      </p:sp>
      <p:sp>
        <p:nvSpPr>
          <p:cNvPr id="50181" name="Rectangle 2">
            <a:extLst>
              <a:ext uri="{FF2B5EF4-FFF2-40B4-BE49-F238E27FC236}">
                <a16:creationId xmlns:a16="http://schemas.microsoft.com/office/drawing/2014/main" id="{905291A2-E420-07FB-6C0B-446306161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3" y="514350"/>
            <a:ext cx="8288337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Component Search</a:t>
            </a:r>
          </a:p>
        </p:txBody>
      </p:sp>
      <p:pic>
        <p:nvPicPr>
          <p:cNvPr id="1026" name="Picture 2" descr="Mouser Electronics · GitHub">
            <a:extLst>
              <a:ext uri="{FF2B5EF4-FFF2-40B4-BE49-F238E27FC236}">
                <a16:creationId xmlns:a16="http://schemas.microsoft.com/office/drawing/2014/main" id="{A4BD985B-3238-6287-4A39-57C765500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9788" y="1753404"/>
            <a:ext cx="1492673" cy="1492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1460D241-DA82-3DEB-8698-2CEB054BB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3564" y="3758269"/>
            <a:ext cx="2865120" cy="802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87877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B00B7-F6A0-1618-74A6-D4E10144B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3" name="Picture 7" descr="ECE_Logo_RedGray_H_45%">
            <a:extLst>
              <a:ext uri="{FF2B5EF4-FFF2-40B4-BE49-F238E27FC236}">
                <a16:creationId xmlns:a16="http://schemas.microsoft.com/office/drawing/2014/main" id="{82B7391B-36A8-46C5-ACE4-2EC1FC673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96125" y="6410325"/>
            <a:ext cx="1792288" cy="269875"/>
          </a:xfrm>
          <a:prstGeom prst="rect">
            <a:avLst/>
          </a:prstGeom>
          <a:noFill/>
        </p:spPr>
      </p:pic>
      <p:sp>
        <p:nvSpPr>
          <p:cNvPr id="50179" name="Rectangle 2">
            <a:extLst>
              <a:ext uri="{FF2B5EF4-FFF2-40B4-BE49-F238E27FC236}">
                <a16:creationId xmlns:a16="http://schemas.microsoft.com/office/drawing/2014/main" id="{586DB61A-6784-2358-1BD0-C7494F286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152400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n-US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9C22F841-FAF5-21FA-64D1-352454EF4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6202" y="473075"/>
            <a:ext cx="9296401" cy="685800"/>
          </a:xfrm>
          <a:prstGeom prst="rect">
            <a:avLst/>
          </a:prstGeom>
          <a:solidFill>
            <a:srgbClr val="9F030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latin typeface="Arial" charset="0"/>
              <a:ea typeface="ＭＳ Ｐゴシック" pitchFamily="1" charset="-128"/>
              <a:cs typeface="+mn-cs"/>
            </a:endParaRPr>
          </a:p>
        </p:txBody>
      </p:sp>
      <p:sp>
        <p:nvSpPr>
          <p:cNvPr id="50181" name="Rectangle 2">
            <a:extLst>
              <a:ext uri="{FF2B5EF4-FFF2-40B4-BE49-F238E27FC236}">
                <a16:creationId xmlns:a16="http://schemas.microsoft.com/office/drawing/2014/main" id="{1CBB214F-7647-DF18-75DC-62A948167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3" y="514350"/>
            <a:ext cx="8288337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Block Diagram</a:t>
            </a:r>
          </a:p>
        </p:txBody>
      </p:sp>
      <p:pic>
        <p:nvPicPr>
          <p:cNvPr id="3" name="Picture 2" descr="A diagram of a system&#10;&#10;AI-generated content may be incorrect.">
            <a:extLst>
              <a:ext uri="{FF2B5EF4-FFF2-40B4-BE49-F238E27FC236}">
                <a16:creationId xmlns:a16="http://schemas.microsoft.com/office/drawing/2014/main" id="{CBD6D000-8368-1B45-DCCB-007380DE13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42" y="1518660"/>
            <a:ext cx="8749515" cy="324226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73037FD-A548-B300-8A57-1071FEF20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603" y="6441279"/>
            <a:ext cx="6893866" cy="293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spcBef>
                <a:spcPct val="20000"/>
              </a:spcBef>
            </a:pPr>
            <a:r>
              <a:rPr lang="en-US" sz="1200" dirty="0">
                <a:solidFill>
                  <a:schemeClr val="bg2"/>
                </a:solidFill>
              </a:rPr>
              <a:t>Block diagram drawn using draw.io</a:t>
            </a:r>
          </a:p>
        </p:txBody>
      </p:sp>
    </p:spTree>
    <p:extLst>
      <p:ext uri="{BB962C8B-B14F-4D97-AF65-F5344CB8AC3E}">
        <p14:creationId xmlns:p14="http://schemas.microsoft.com/office/powerpoint/2010/main" val="11157210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76AB6-CFA2-2798-CDF2-8B803AC44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3" name="Picture 7" descr="ECE_Logo_RedGray_H_45%">
            <a:extLst>
              <a:ext uri="{FF2B5EF4-FFF2-40B4-BE49-F238E27FC236}">
                <a16:creationId xmlns:a16="http://schemas.microsoft.com/office/drawing/2014/main" id="{2B071070-6833-163C-78D9-EEE5F7AF7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96125" y="6410325"/>
            <a:ext cx="1792288" cy="269875"/>
          </a:xfrm>
          <a:prstGeom prst="rect">
            <a:avLst/>
          </a:prstGeom>
          <a:noFill/>
        </p:spPr>
      </p:pic>
      <p:sp>
        <p:nvSpPr>
          <p:cNvPr id="50179" name="Rectangle 2">
            <a:extLst>
              <a:ext uri="{FF2B5EF4-FFF2-40B4-BE49-F238E27FC236}">
                <a16:creationId xmlns:a16="http://schemas.microsoft.com/office/drawing/2014/main" id="{FC01EE3C-02EA-B86B-B20F-5EDC995B5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152400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n-US"/>
          </a:p>
        </p:txBody>
      </p:sp>
      <p:sp>
        <p:nvSpPr>
          <p:cNvPr id="50182" name="Rectangle 3">
            <a:extLst>
              <a:ext uri="{FF2B5EF4-FFF2-40B4-BE49-F238E27FC236}">
                <a16:creationId xmlns:a16="http://schemas.microsoft.com/office/drawing/2014/main" id="{35B4A6B2-1273-D61F-FAE5-87D6E756D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275" y="1458913"/>
            <a:ext cx="4285752" cy="4951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dirty="0"/>
              <a:t>Libraries are collections of components and footprints</a:t>
            </a:r>
          </a:p>
          <a:p>
            <a:pPr marL="800100" lvl="1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All components for a project must be derived from a library</a:t>
            </a:r>
          </a:p>
          <a:p>
            <a:pPr marL="800100" lvl="1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Projects may reference multiple different component libraries</a:t>
            </a:r>
          </a:p>
          <a:p>
            <a:pPr marL="800100" lvl="1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Relatively consistent across platforms</a:t>
            </a: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dirty="0"/>
              <a:t>Typically, there are symbol and footprint libraries</a:t>
            </a:r>
          </a:p>
          <a:p>
            <a:pPr marL="800100" lvl="1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Tightly coupled together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83834E-7197-920C-2BE0-9B8F828EC3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7642" y="1525548"/>
            <a:ext cx="3660771" cy="3652864"/>
          </a:xfrm>
          <a:prstGeom prst="rect">
            <a:avLst/>
          </a:prstGeom>
        </p:spPr>
      </p:pic>
      <p:sp>
        <p:nvSpPr>
          <p:cNvPr id="4" name="Rectangle 8">
            <a:extLst>
              <a:ext uri="{FF2B5EF4-FFF2-40B4-BE49-F238E27FC236}">
                <a16:creationId xmlns:a16="http://schemas.microsoft.com/office/drawing/2014/main" id="{564844DA-EA5E-2CB4-11DA-1753C20DB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6201" y="473075"/>
            <a:ext cx="9296401" cy="685800"/>
          </a:xfrm>
          <a:prstGeom prst="rect">
            <a:avLst/>
          </a:prstGeom>
          <a:solidFill>
            <a:srgbClr val="9F030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latin typeface="Arial" charset="0"/>
              <a:ea typeface="ＭＳ Ｐゴシック" pitchFamily="1" charset="-128"/>
              <a:cs typeface="+mn-cs"/>
            </a:endParaRPr>
          </a:p>
        </p:txBody>
      </p:sp>
      <p:sp>
        <p:nvSpPr>
          <p:cNvPr id="50181" name="Rectangle 2">
            <a:extLst>
              <a:ext uri="{FF2B5EF4-FFF2-40B4-BE49-F238E27FC236}">
                <a16:creationId xmlns:a16="http://schemas.microsoft.com/office/drawing/2014/main" id="{641130C9-068D-8D5E-B22A-4F2F95C79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3" y="514350"/>
            <a:ext cx="8288337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Component Libraries</a:t>
            </a:r>
          </a:p>
        </p:txBody>
      </p:sp>
    </p:spTree>
    <p:extLst>
      <p:ext uri="{BB962C8B-B14F-4D97-AF65-F5344CB8AC3E}">
        <p14:creationId xmlns:p14="http://schemas.microsoft.com/office/powerpoint/2010/main" val="31566323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47883-F3B1-7545-4145-B056D0DE6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3" name="Picture 7" descr="ECE_Logo_RedGray_H_45%">
            <a:extLst>
              <a:ext uri="{FF2B5EF4-FFF2-40B4-BE49-F238E27FC236}">
                <a16:creationId xmlns:a16="http://schemas.microsoft.com/office/drawing/2014/main" id="{351CC0BA-10F8-B8B3-3E65-07C4F1CEC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96125" y="6410325"/>
            <a:ext cx="1792288" cy="269875"/>
          </a:xfrm>
          <a:prstGeom prst="rect">
            <a:avLst/>
          </a:prstGeom>
          <a:noFill/>
        </p:spPr>
      </p:pic>
      <p:sp>
        <p:nvSpPr>
          <p:cNvPr id="50179" name="Rectangle 2">
            <a:extLst>
              <a:ext uri="{FF2B5EF4-FFF2-40B4-BE49-F238E27FC236}">
                <a16:creationId xmlns:a16="http://schemas.microsoft.com/office/drawing/2014/main" id="{9404ABAC-1002-1084-9CC5-EC0392F6A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152400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n-US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738C9697-7FD7-CF29-A680-EB03076F3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6201" y="473075"/>
            <a:ext cx="9296401" cy="685800"/>
          </a:xfrm>
          <a:prstGeom prst="rect">
            <a:avLst/>
          </a:prstGeom>
          <a:solidFill>
            <a:srgbClr val="9F030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latin typeface="Arial" charset="0"/>
              <a:ea typeface="ＭＳ Ｐゴシック" pitchFamily="1" charset="-128"/>
              <a:cs typeface="+mn-cs"/>
            </a:endParaRPr>
          </a:p>
        </p:txBody>
      </p:sp>
      <p:sp>
        <p:nvSpPr>
          <p:cNvPr id="50181" name="Rectangle 2">
            <a:extLst>
              <a:ext uri="{FF2B5EF4-FFF2-40B4-BE49-F238E27FC236}">
                <a16:creationId xmlns:a16="http://schemas.microsoft.com/office/drawing/2014/main" id="{11322201-D425-0149-519A-3ECEF0FFE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3" y="514350"/>
            <a:ext cx="8288337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Component Library Types (Altium)</a:t>
            </a:r>
          </a:p>
        </p:txBody>
      </p:sp>
      <p:sp>
        <p:nvSpPr>
          <p:cNvPr id="50182" name="Rectangle 3">
            <a:extLst>
              <a:ext uri="{FF2B5EF4-FFF2-40B4-BE49-F238E27FC236}">
                <a16:creationId xmlns:a16="http://schemas.microsoft.com/office/drawing/2014/main" id="{999F2E3C-109B-D645-8BA7-0C69F018D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275" y="1458913"/>
            <a:ext cx="4285752" cy="4951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u="sng" dirty="0"/>
              <a:t>.</a:t>
            </a:r>
            <a:r>
              <a:rPr lang="en-US" u="sng" dirty="0" err="1"/>
              <a:t>SchLib</a:t>
            </a:r>
            <a:endParaRPr lang="en-US" u="sng" dirty="0"/>
          </a:p>
          <a:p>
            <a:pPr marL="800100" lvl="1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Contains all component schematic symbols</a:t>
            </a: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u="sng" dirty="0"/>
              <a:t>.</a:t>
            </a:r>
            <a:r>
              <a:rPr lang="en-US" u="sng" dirty="0" err="1"/>
              <a:t>PcbLib</a:t>
            </a:r>
            <a:endParaRPr lang="en-US" u="sng" dirty="0"/>
          </a:p>
          <a:p>
            <a:pPr marL="800100" lvl="1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Contains all footprint information</a:t>
            </a: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u="sng" dirty="0"/>
              <a:t>.</a:t>
            </a:r>
            <a:r>
              <a:rPr lang="en-US" u="sng" dirty="0" err="1"/>
              <a:t>LibPkg</a:t>
            </a:r>
            <a:endParaRPr lang="en-US" u="sng" dirty="0"/>
          </a:p>
          <a:p>
            <a:pPr marL="800100" lvl="1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Also known as an integrated library</a:t>
            </a:r>
          </a:p>
          <a:p>
            <a:pPr marL="800100" lvl="1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Packages multiple .</a:t>
            </a:r>
            <a:r>
              <a:rPr lang="en-US" sz="2000" dirty="0" err="1"/>
              <a:t>SchLib</a:t>
            </a:r>
            <a:r>
              <a:rPr lang="en-US" sz="2000" dirty="0"/>
              <a:t> and .</a:t>
            </a:r>
            <a:r>
              <a:rPr lang="en-US" sz="2000" dirty="0" err="1"/>
              <a:t>PcbLib</a:t>
            </a:r>
            <a:r>
              <a:rPr lang="en-US" sz="2000" dirty="0"/>
              <a:t> libraries together for easier management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852C93-158F-7295-5F57-E2B7B063D7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8583" y="1398399"/>
            <a:ext cx="1541972" cy="475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8261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2303C-C9E2-B3C0-02C3-55E8CC088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3" name="Picture 7" descr="ECE_Logo_RedGray_H_45%">
            <a:extLst>
              <a:ext uri="{FF2B5EF4-FFF2-40B4-BE49-F238E27FC236}">
                <a16:creationId xmlns:a16="http://schemas.microsoft.com/office/drawing/2014/main" id="{2BCA488A-549B-C451-2337-80F6BB143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96125" y="6410325"/>
            <a:ext cx="1792288" cy="269875"/>
          </a:xfrm>
          <a:prstGeom prst="rect">
            <a:avLst/>
          </a:prstGeom>
          <a:noFill/>
        </p:spPr>
      </p:pic>
      <p:sp>
        <p:nvSpPr>
          <p:cNvPr id="50179" name="Rectangle 2">
            <a:extLst>
              <a:ext uri="{FF2B5EF4-FFF2-40B4-BE49-F238E27FC236}">
                <a16:creationId xmlns:a16="http://schemas.microsoft.com/office/drawing/2014/main" id="{068FB71C-B310-98E8-E597-5063A1950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152400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n-US"/>
          </a:p>
        </p:txBody>
      </p:sp>
      <p:sp>
        <p:nvSpPr>
          <p:cNvPr id="50182" name="Rectangle 3">
            <a:extLst>
              <a:ext uri="{FF2B5EF4-FFF2-40B4-BE49-F238E27FC236}">
                <a16:creationId xmlns:a16="http://schemas.microsoft.com/office/drawing/2014/main" id="{EE481154-4AB9-098A-323F-7094FF0F6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275" y="1458913"/>
            <a:ext cx="4285752" cy="4951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u="sng" dirty="0"/>
              <a:t>.</a:t>
            </a:r>
            <a:r>
              <a:rPr lang="en-US" u="sng" dirty="0" err="1"/>
              <a:t>kicad_sym</a:t>
            </a:r>
            <a:endParaRPr lang="en-US" u="sng" dirty="0"/>
          </a:p>
          <a:p>
            <a:pPr marL="800100" lvl="1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Contains all the symbol information for components in the library</a:t>
            </a: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u="sng" dirty="0"/>
              <a:t>.pretty</a:t>
            </a:r>
          </a:p>
          <a:p>
            <a:pPr marL="800100" lvl="1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Contains all the footprint information to be used with components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A73E53-02A3-9BFA-A865-0DD0994E2B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5618" y="2083057"/>
            <a:ext cx="3425372" cy="4834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A98830-DF40-4A97-7127-9E9F784B06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5622" y="2758009"/>
            <a:ext cx="3425368" cy="5096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E87032-47D0-9226-68E2-5BBE162496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2814" y="3484374"/>
            <a:ext cx="3910979" cy="2625498"/>
          </a:xfrm>
          <a:prstGeom prst="rect">
            <a:avLst/>
          </a:prstGeom>
        </p:spPr>
      </p:pic>
      <p:sp>
        <p:nvSpPr>
          <p:cNvPr id="8" name="Rectangle 8">
            <a:extLst>
              <a:ext uri="{FF2B5EF4-FFF2-40B4-BE49-F238E27FC236}">
                <a16:creationId xmlns:a16="http://schemas.microsoft.com/office/drawing/2014/main" id="{CB80EA3F-30E5-A39E-DB47-A3D10E9A1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6201" y="473075"/>
            <a:ext cx="9296401" cy="685800"/>
          </a:xfrm>
          <a:prstGeom prst="rect">
            <a:avLst/>
          </a:prstGeom>
          <a:solidFill>
            <a:srgbClr val="9F030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latin typeface="Arial" charset="0"/>
              <a:ea typeface="ＭＳ Ｐゴシック" pitchFamily="1" charset="-128"/>
              <a:cs typeface="+mn-cs"/>
            </a:endParaRPr>
          </a:p>
        </p:txBody>
      </p:sp>
      <p:sp>
        <p:nvSpPr>
          <p:cNvPr id="50181" name="Rectangle 2">
            <a:extLst>
              <a:ext uri="{FF2B5EF4-FFF2-40B4-BE49-F238E27FC236}">
                <a16:creationId xmlns:a16="http://schemas.microsoft.com/office/drawing/2014/main" id="{E31B3C14-05F3-09C3-470A-34E6D9048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3" y="514350"/>
            <a:ext cx="8288337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Component Library Types (</a:t>
            </a:r>
            <a:r>
              <a:rPr lang="en-US" sz="3200" dirty="0" err="1">
                <a:solidFill>
                  <a:schemeClr val="bg1"/>
                </a:solidFill>
              </a:rPr>
              <a:t>KiCAD</a:t>
            </a:r>
            <a:r>
              <a:rPr lang="en-US" sz="3200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76328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4700D-F8C9-8D49-1069-3D9038291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3" name="Picture 7" descr="ECE_Logo_RedGray_H_45%">
            <a:extLst>
              <a:ext uri="{FF2B5EF4-FFF2-40B4-BE49-F238E27FC236}">
                <a16:creationId xmlns:a16="http://schemas.microsoft.com/office/drawing/2014/main" id="{7DCAA670-2374-BC19-518D-2427DE8ADF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96125" y="6410325"/>
            <a:ext cx="1792288" cy="269875"/>
          </a:xfrm>
          <a:prstGeom prst="rect">
            <a:avLst/>
          </a:prstGeom>
          <a:noFill/>
        </p:spPr>
      </p:pic>
      <p:sp>
        <p:nvSpPr>
          <p:cNvPr id="50179" name="Rectangle 2">
            <a:extLst>
              <a:ext uri="{FF2B5EF4-FFF2-40B4-BE49-F238E27FC236}">
                <a16:creationId xmlns:a16="http://schemas.microsoft.com/office/drawing/2014/main" id="{041AD1F2-D6C2-4701-6997-C5391784E7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152400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n-US"/>
          </a:p>
        </p:txBody>
      </p:sp>
      <p:sp>
        <p:nvSpPr>
          <p:cNvPr id="50182" name="Rectangle 3">
            <a:extLst>
              <a:ext uri="{FF2B5EF4-FFF2-40B4-BE49-F238E27FC236}">
                <a16:creationId xmlns:a16="http://schemas.microsoft.com/office/drawing/2014/main" id="{1B555EC4-F3C2-9DAE-6BAA-8A302648A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274" y="1458913"/>
            <a:ext cx="4149725" cy="4951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dirty="0"/>
              <a:t>Making symbols is a time-consuming process</a:t>
            </a: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dirty="0"/>
              <a:t>All pins and designators must be correct, or they will result in errors during layout</a:t>
            </a: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dirty="0"/>
              <a:t>Requires the ability to read a datasheet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7D52F5-9A91-43EE-4E56-8024BCDF61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486" y="1563968"/>
            <a:ext cx="2504008" cy="18650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E188A5-B2A2-3EA1-009F-5DAC29B2B4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486" y="3650878"/>
            <a:ext cx="2504008" cy="2174288"/>
          </a:xfrm>
          <a:prstGeom prst="rect">
            <a:avLst/>
          </a:prstGeom>
        </p:spPr>
      </p:pic>
      <p:sp>
        <p:nvSpPr>
          <p:cNvPr id="12" name="Rectangle 8">
            <a:extLst>
              <a:ext uri="{FF2B5EF4-FFF2-40B4-BE49-F238E27FC236}">
                <a16:creationId xmlns:a16="http://schemas.microsoft.com/office/drawing/2014/main" id="{14ABD1A7-90DC-5516-A222-27E318791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6201" y="473075"/>
            <a:ext cx="9296401" cy="685800"/>
          </a:xfrm>
          <a:prstGeom prst="rect">
            <a:avLst/>
          </a:prstGeom>
          <a:solidFill>
            <a:srgbClr val="9F030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latin typeface="Arial" charset="0"/>
              <a:ea typeface="ＭＳ Ｐゴシック" pitchFamily="1" charset="-128"/>
              <a:cs typeface="+mn-cs"/>
            </a:endParaRPr>
          </a:p>
        </p:txBody>
      </p:sp>
      <p:sp>
        <p:nvSpPr>
          <p:cNvPr id="50181" name="Rectangle 2">
            <a:extLst>
              <a:ext uri="{FF2B5EF4-FFF2-40B4-BE49-F238E27FC236}">
                <a16:creationId xmlns:a16="http://schemas.microsoft.com/office/drawing/2014/main" id="{51C23347-A23F-8CA2-62CE-51E8D8AC2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3" y="514350"/>
            <a:ext cx="8288337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Making Component Symbols</a:t>
            </a:r>
          </a:p>
        </p:txBody>
      </p:sp>
    </p:spTree>
    <p:extLst>
      <p:ext uri="{BB962C8B-B14F-4D97-AF65-F5344CB8AC3E}">
        <p14:creationId xmlns:p14="http://schemas.microsoft.com/office/powerpoint/2010/main" val="15321103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3D7CE-8A83-417F-8D52-9308D26BC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3" name="Picture 7" descr="ECE_Logo_RedGray_H_45%">
            <a:extLst>
              <a:ext uri="{FF2B5EF4-FFF2-40B4-BE49-F238E27FC236}">
                <a16:creationId xmlns:a16="http://schemas.microsoft.com/office/drawing/2014/main" id="{C97BA2AC-38A4-5FED-DE2D-86F898A0A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96125" y="6410325"/>
            <a:ext cx="1792288" cy="269875"/>
          </a:xfrm>
          <a:prstGeom prst="rect">
            <a:avLst/>
          </a:prstGeom>
          <a:noFill/>
        </p:spPr>
      </p:pic>
      <p:sp>
        <p:nvSpPr>
          <p:cNvPr id="50179" name="Rectangle 2">
            <a:extLst>
              <a:ext uri="{FF2B5EF4-FFF2-40B4-BE49-F238E27FC236}">
                <a16:creationId xmlns:a16="http://schemas.microsoft.com/office/drawing/2014/main" id="{B8BECBFF-B574-4C72-0AEB-D2AFB1F66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152400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n-US"/>
          </a:p>
        </p:txBody>
      </p:sp>
      <p:sp>
        <p:nvSpPr>
          <p:cNvPr id="50182" name="Rectangle 3">
            <a:extLst>
              <a:ext uri="{FF2B5EF4-FFF2-40B4-BE49-F238E27FC236}">
                <a16:creationId xmlns:a16="http://schemas.microsoft.com/office/drawing/2014/main" id="{7101A9BA-1401-0474-3A86-63A3933AAD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274" y="1458913"/>
            <a:ext cx="4916207" cy="4951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dirty="0" err="1"/>
              <a:t>SamacSys</a:t>
            </a:r>
            <a:r>
              <a:rPr lang="en-US" dirty="0"/>
              <a:t> is a third-party component manager</a:t>
            </a:r>
          </a:p>
          <a:p>
            <a:pPr marL="800100" lvl="1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Integrates with Altium with an extension</a:t>
            </a:r>
          </a:p>
          <a:p>
            <a:pPr marL="800100" lvl="1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Creates schematic symbols and footprints for you</a:t>
            </a:r>
          </a:p>
          <a:p>
            <a:pPr marL="800100" lvl="1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Can be used with </a:t>
            </a:r>
            <a:r>
              <a:rPr lang="en-US" sz="2000" dirty="0" err="1"/>
              <a:t>KiCAD</a:t>
            </a:r>
            <a:r>
              <a:rPr lang="en-US" sz="2000" dirty="0"/>
              <a:t> as well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C688EE-FEBB-A529-D26B-2887EDE49B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55" y="1436783"/>
            <a:ext cx="2600651" cy="3712041"/>
          </a:xfrm>
          <a:prstGeom prst="rect">
            <a:avLst/>
          </a:prstGeom>
        </p:spPr>
      </p:pic>
      <p:pic>
        <p:nvPicPr>
          <p:cNvPr id="7" name="Picture 6" descr="A logo of a company&#10;&#10;AI-generated content may be incorrect.">
            <a:extLst>
              <a:ext uri="{FF2B5EF4-FFF2-40B4-BE49-F238E27FC236}">
                <a16:creationId xmlns:a16="http://schemas.microsoft.com/office/drawing/2014/main" id="{061EB65C-DF23-94DF-FF72-F9D9C5F387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5794" y="5420382"/>
            <a:ext cx="3232056" cy="580426"/>
          </a:xfrm>
          <a:prstGeom prst="rect">
            <a:avLst/>
          </a:prstGeom>
        </p:spPr>
      </p:pic>
      <p:sp>
        <p:nvSpPr>
          <p:cNvPr id="8" name="Rectangle 8">
            <a:extLst>
              <a:ext uri="{FF2B5EF4-FFF2-40B4-BE49-F238E27FC236}">
                <a16:creationId xmlns:a16="http://schemas.microsoft.com/office/drawing/2014/main" id="{E4093B5D-C090-8517-F4F3-C458943E9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6201" y="473075"/>
            <a:ext cx="9296401" cy="685800"/>
          </a:xfrm>
          <a:prstGeom prst="rect">
            <a:avLst/>
          </a:prstGeom>
          <a:solidFill>
            <a:srgbClr val="9F030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latin typeface="Arial" charset="0"/>
              <a:ea typeface="ＭＳ Ｐゴシック" pitchFamily="1" charset="-128"/>
              <a:cs typeface="+mn-cs"/>
            </a:endParaRPr>
          </a:p>
        </p:txBody>
      </p:sp>
      <p:sp>
        <p:nvSpPr>
          <p:cNvPr id="50181" name="Rectangle 2">
            <a:extLst>
              <a:ext uri="{FF2B5EF4-FFF2-40B4-BE49-F238E27FC236}">
                <a16:creationId xmlns:a16="http://schemas.microsoft.com/office/drawing/2014/main" id="{3F44E3D7-51F1-1569-CBE7-A8BA64EDA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3" y="514350"/>
            <a:ext cx="8288337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 sz="3200" dirty="0" err="1">
                <a:solidFill>
                  <a:schemeClr val="bg1"/>
                </a:solidFill>
              </a:rPr>
              <a:t>SamacSys</a:t>
            </a:r>
            <a:r>
              <a:rPr lang="en-US" sz="3200" dirty="0">
                <a:solidFill>
                  <a:schemeClr val="bg1"/>
                </a:solidFill>
              </a:rPr>
              <a:t> (Component Manager)</a:t>
            </a:r>
          </a:p>
        </p:txBody>
      </p:sp>
    </p:spTree>
    <p:extLst>
      <p:ext uri="{BB962C8B-B14F-4D97-AF65-F5344CB8AC3E}">
        <p14:creationId xmlns:p14="http://schemas.microsoft.com/office/powerpoint/2010/main" val="29079996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AC090-AD71-1BAD-2284-CB38A703B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3" name="Picture 7" descr="ECE_Logo_RedGray_H_45%">
            <a:extLst>
              <a:ext uri="{FF2B5EF4-FFF2-40B4-BE49-F238E27FC236}">
                <a16:creationId xmlns:a16="http://schemas.microsoft.com/office/drawing/2014/main" id="{4B4FEE6C-CB72-6D69-A186-72B121801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96125" y="6410325"/>
            <a:ext cx="1792288" cy="269875"/>
          </a:xfrm>
          <a:prstGeom prst="rect">
            <a:avLst/>
          </a:prstGeom>
          <a:noFill/>
        </p:spPr>
      </p:pic>
      <p:sp>
        <p:nvSpPr>
          <p:cNvPr id="50179" name="Rectangle 2">
            <a:extLst>
              <a:ext uri="{FF2B5EF4-FFF2-40B4-BE49-F238E27FC236}">
                <a16:creationId xmlns:a16="http://schemas.microsoft.com/office/drawing/2014/main" id="{62809FFB-BFEB-AE66-3195-B89C6E246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152400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n-US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A94D451A-3F27-0B76-D6E9-49091543B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6201" y="473075"/>
            <a:ext cx="9296401" cy="685800"/>
          </a:xfrm>
          <a:prstGeom prst="rect">
            <a:avLst/>
          </a:prstGeom>
          <a:solidFill>
            <a:srgbClr val="9F030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latin typeface="Arial" charset="0"/>
              <a:ea typeface="ＭＳ Ｐゴシック" pitchFamily="1" charset="-128"/>
              <a:cs typeface="+mn-cs"/>
            </a:endParaRPr>
          </a:p>
        </p:txBody>
      </p:sp>
      <p:sp>
        <p:nvSpPr>
          <p:cNvPr id="50181" name="Rectangle 2">
            <a:extLst>
              <a:ext uri="{FF2B5EF4-FFF2-40B4-BE49-F238E27FC236}">
                <a16:creationId xmlns:a16="http://schemas.microsoft.com/office/drawing/2014/main" id="{FABBA334-3AF9-367F-F2E2-349AD7464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3" y="514350"/>
            <a:ext cx="8288337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Questions?</a:t>
            </a:r>
          </a:p>
        </p:txBody>
      </p:sp>
      <p:sp>
        <p:nvSpPr>
          <p:cNvPr id="50182" name="Rectangle 3">
            <a:extLst>
              <a:ext uri="{FF2B5EF4-FFF2-40B4-BE49-F238E27FC236}">
                <a16:creationId xmlns:a16="http://schemas.microsoft.com/office/drawing/2014/main" id="{919AD2C7-E4AE-AF55-2E00-A92D80DE0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231" y="2174789"/>
            <a:ext cx="8237538" cy="292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algn="ctr">
              <a:spcBef>
                <a:spcPct val="20000"/>
              </a:spcBef>
            </a:pPr>
            <a:r>
              <a:rPr lang="en-US" sz="6600" dirty="0">
                <a:solidFill>
                  <a:schemeClr val="bg2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7472617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FDBDB-68FB-9A10-7089-730BDDA1A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3" name="Picture 7" descr="ECE_Logo_RedGray_H_45%">
            <a:extLst>
              <a:ext uri="{FF2B5EF4-FFF2-40B4-BE49-F238E27FC236}">
                <a16:creationId xmlns:a16="http://schemas.microsoft.com/office/drawing/2014/main" id="{E1FF5D84-27A4-BF7B-A56C-4D50A19A9C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96125" y="6410325"/>
            <a:ext cx="1792288" cy="269875"/>
          </a:xfrm>
          <a:prstGeom prst="rect">
            <a:avLst/>
          </a:prstGeom>
          <a:noFill/>
        </p:spPr>
      </p:pic>
      <p:sp>
        <p:nvSpPr>
          <p:cNvPr id="50179" name="Rectangle 2">
            <a:extLst>
              <a:ext uri="{FF2B5EF4-FFF2-40B4-BE49-F238E27FC236}">
                <a16:creationId xmlns:a16="http://schemas.microsoft.com/office/drawing/2014/main" id="{D37A1089-5719-6ECE-5FEF-77C77A902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152400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n-US"/>
          </a:p>
        </p:txBody>
      </p:sp>
      <p:sp>
        <p:nvSpPr>
          <p:cNvPr id="50182" name="Rectangle 3">
            <a:extLst>
              <a:ext uri="{FF2B5EF4-FFF2-40B4-BE49-F238E27FC236}">
                <a16:creationId xmlns:a16="http://schemas.microsoft.com/office/drawing/2014/main" id="{2A8CD22A-413A-863D-E126-5019B59BF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3" y="1644650"/>
            <a:ext cx="8237538" cy="3940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algn="ctr">
              <a:spcBef>
                <a:spcPct val="20000"/>
              </a:spcBef>
            </a:pPr>
            <a:r>
              <a:rPr lang="en-US" sz="3600" dirty="0"/>
              <a:t>Navigate to the workshop GitHub and download today’s files</a:t>
            </a:r>
            <a:br>
              <a:rPr lang="en-US" sz="3600" dirty="0"/>
            </a:br>
            <a:br>
              <a:rPr lang="en-US" sz="3600" dirty="0"/>
            </a:br>
            <a:r>
              <a:rPr lang="en-US" sz="3600" dirty="0"/>
              <a:t>https://github.com/IEEE-U-of-U/IEEE-PCB-Workshop-Spring-2026</a:t>
            </a:r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CBA5A222-89FE-A658-53D3-3AC6B3B4B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6201" y="473075"/>
            <a:ext cx="9296401" cy="685800"/>
          </a:xfrm>
          <a:prstGeom prst="rect">
            <a:avLst/>
          </a:prstGeom>
          <a:solidFill>
            <a:srgbClr val="9F030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latin typeface="Arial" charset="0"/>
              <a:ea typeface="ＭＳ Ｐゴシック" pitchFamily="1" charset="-128"/>
              <a:cs typeface="+mn-cs"/>
            </a:endParaRPr>
          </a:p>
        </p:txBody>
      </p:sp>
      <p:sp>
        <p:nvSpPr>
          <p:cNvPr id="50181" name="Rectangle 2">
            <a:extLst>
              <a:ext uri="{FF2B5EF4-FFF2-40B4-BE49-F238E27FC236}">
                <a16:creationId xmlns:a16="http://schemas.microsoft.com/office/drawing/2014/main" id="{4A316EA1-7C4C-5EDA-82A9-2A771802C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3" y="514350"/>
            <a:ext cx="8288337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Download Today’s Project Files</a:t>
            </a:r>
          </a:p>
        </p:txBody>
      </p:sp>
    </p:spTree>
    <p:extLst>
      <p:ext uri="{BB962C8B-B14F-4D97-AF65-F5344CB8AC3E}">
        <p14:creationId xmlns:p14="http://schemas.microsoft.com/office/powerpoint/2010/main" val="37771911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stealth" w="lg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stealth" w="lg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8111</TotalTime>
  <Words>474</Words>
  <Application>Microsoft Office PowerPoint</Application>
  <PresentationFormat>On-screen Show (4:3)</PresentationFormat>
  <Paragraphs>80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Blank Presentation</vt:lpstr>
      <vt:lpstr>IEEE PCB Design Workshop: (Week 02) Datasheets and Components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cade lab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for your Cover</dc:title>
  <dc:subject/>
  <dc:creator>cade lab</dc:creator>
  <cp:keywords/>
  <dc:description/>
  <cp:lastModifiedBy>Adrian Sucahyo</cp:lastModifiedBy>
  <cp:revision>246</cp:revision>
  <dcterms:created xsi:type="dcterms:W3CDTF">2008-04-18T23:06:39Z</dcterms:created>
  <dcterms:modified xsi:type="dcterms:W3CDTF">2026-02-24T17:38:31Z</dcterms:modified>
  <cp:category/>
</cp:coreProperties>
</file>